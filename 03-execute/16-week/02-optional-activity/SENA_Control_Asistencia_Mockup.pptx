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5.png"/><Relationship Id="rId7" Type="http://schemas.openxmlformats.org/officeDocument/2006/relationships/image" Target="../media/image-3-7.png"/><Relationship Id="rId8" Type="http://schemas.openxmlformats.org/officeDocument/2006/relationships/image" Target="../media/image-3-5.png"/><Relationship Id="rId9" Type="http://schemas.openxmlformats.org/officeDocument/2006/relationships/image" Target="../media/image-3-7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39A90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</a:t>
            </a:r>
            <a:endParaRPr lang="en-US" sz="3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Digital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F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NACIONAL DE APRENDIZAJE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de Alta Fidelidad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108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UX / UI  ·  Julio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94960" y="68580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asistencia rápido, visual</a:t>
            </a:r>
            <a:endParaRPr lang="en-US" sz="2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sin fricciones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94960" y="169164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las dos experiencias principales de la aplicación institucional: el Aprendiz que registra su ingreso con un código QR, y el Instructor que supervisa la asistencia de su ficha en tiempo real.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2788920"/>
            <a:ext cx="402336" cy="402336"/>
          </a:xfrm>
          <a:prstGeom prst="ellipse">
            <a:avLst/>
          </a:prstGeom>
          <a:solidFill>
            <a:srgbClr val="E8F5D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0" y="2880360"/>
            <a:ext cx="219456" cy="219456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27614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menos de 3 segundos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89320" y="30083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QR instantáneo, sin formularios ni pasos adicionales.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3685032"/>
            <a:ext cx="402336" cy="402336"/>
          </a:xfrm>
          <a:prstGeom prst="ellipse">
            <a:avLst/>
          </a:prstGeom>
          <a:solidFill>
            <a:srgbClr val="E8F5DE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3776472"/>
            <a:ext cx="219456" cy="219456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3657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verificable por QR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89320" y="3904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aprendiz cuenta con un código único, seguro y personal.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4581144"/>
            <a:ext cx="402336" cy="402336"/>
          </a:xfrm>
          <a:prstGeom prst="ellipse">
            <a:avLst/>
          </a:prstGeom>
          <a:solidFill>
            <a:srgbClr val="E8F5D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0" y="4672584"/>
            <a:ext cx="219456" cy="219456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45537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control para instructores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8932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clara del estado de asistencia por ficha.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94960" y="5477256"/>
            <a:ext cx="402336" cy="402336"/>
          </a:xfrm>
          <a:prstGeom prst="ellipse">
            <a:avLst/>
          </a:prstGeom>
          <a:solidFill>
            <a:srgbClr val="E8F5DE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0" y="5568696"/>
            <a:ext cx="219456" cy="219456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54498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exportables en PDF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989320" y="5696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reportes de asistencia con un solo toque.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63550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institucional: Verde SENA #39A900  ·  Blanco  ·  Grises neutros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del Estudiante (Aprendiz)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entrada mediante código QR personal — flujo pensado para completarse en menos de 3 segundos.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2880360" cy="5806440"/>
          </a:xfrm>
          <a:prstGeom prst="roundRect">
            <a:avLst>
              <a:gd name="adj" fmla="val 10794"/>
            </a:avLst>
          </a:prstGeom>
          <a:solidFill>
            <a:srgbClr val="1C1C1E"/>
          </a:solidFill>
          <a:ln/>
          <a:effectLst>
            <a:outerShdw sx="100000" sy="100000" kx="0" ky="0" algn="bl" rotWithShape="0" blurRad="228600" dist="101600" dir="5400000">
              <a:srgbClr val="1C1C1E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1700784"/>
            <a:ext cx="2679192" cy="5605272"/>
          </a:xfrm>
          <a:prstGeom prst="roundRect">
            <a:avLst>
              <a:gd name="adj" fmla="val 8874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" y="2560320"/>
            <a:ext cx="27432" cy="457200"/>
          </a:xfrm>
          <a:prstGeom prst="roundRect">
            <a:avLst>
              <a:gd name="adj" fmla="val 33333"/>
            </a:avLst>
          </a:prstGeom>
          <a:solidFill>
            <a:srgbClr val="1C1C1E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3154680"/>
            <a:ext cx="27432" cy="457200"/>
          </a:xfrm>
          <a:prstGeom prst="roundRect">
            <a:avLst>
              <a:gd name="adj" fmla="val 33333"/>
            </a:avLst>
          </a:prstGeom>
          <a:solidFill>
            <a:srgbClr val="1C1C1E"/>
          </a:solidFill>
          <a:ln/>
        </p:spPr>
      </p:sp>
      <p:sp>
        <p:nvSpPr>
          <p:cNvPr id="9" name="Text 7"/>
          <p:cNvSpPr/>
          <p:nvPr/>
        </p:nvSpPr>
        <p:spPr>
          <a:xfrm>
            <a:off x="1014984" y="1737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pic>
        <p:nvPicPr>
          <p:cNvPr id="10" name="Image 0" descr="/home/claude/sena_mockup/icons/sig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088" y="1760220"/>
            <a:ext cx="128016" cy="128016"/>
          </a:xfrm>
          <a:prstGeom prst="rect">
            <a:avLst/>
          </a:prstGeom>
        </p:spPr>
      </p:pic>
      <p:pic>
        <p:nvPicPr>
          <p:cNvPr id="11" name="Image 1" descr="/home/claude/sena_mockup/icons/wif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760220"/>
            <a:ext cx="128016" cy="128016"/>
          </a:xfrm>
          <a:prstGeom prst="rect">
            <a:avLst/>
          </a:prstGeom>
        </p:spPr>
      </p:pic>
      <p:pic>
        <p:nvPicPr>
          <p:cNvPr id="12" name="Image 2" descr="/home/claude/sena_mockup/icons/batte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755648"/>
            <a:ext cx="182880" cy="1371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77824" y="1993392"/>
            <a:ext cx="2679192" cy="868680"/>
          </a:xfrm>
          <a:prstGeom prst="roundRect">
            <a:avLst>
              <a:gd name="adj" fmla="val 6316"/>
            </a:avLst>
          </a:prstGeom>
          <a:solidFill>
            <a:srgbClr val="39A900"/>
          </a:solidFill>
          <a:ln/>
        </p:spPr>
      </p:sp>
      <p:sp>
        <p:nvSpPr>
          <p:cNvPr id="14" name="Shape 9"/>
          <p:cNvSpPr/>
          <p:nvPr/>
        </p:nvSpPr>
        <p:spPr>
          <a:xfrm>
            <a:off x="1024128" y="214884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/home/claude/sena_mockup/icons/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" y="2226564"/>
            <a:ext cx="246888" cy="2468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17904" y="213969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Hola, Estiben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517904" y="239572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 · Ficha 283940</a:t>
            </a:r>
            <a:endParaRPr lang="en-US" sz="850" dirty="0"/>
          </a:p>
        </p:txBody>
      </p:sp>
      <p:pic>
        <p:nvPicPr>
          <p:cNvPr id="18" name="Image 4" descr="/home/claude/sena_mockup/icons/be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1256" y="219456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77824" y="3026664"/>
            <a:ext cx="26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CÓDIGO DE IDENTIDAD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1316736" y="3282696"/>
            <a:ext cx="1801368" cy="1801368"/>
          </a:xfrm>
          <a:prstGeom prst="roundRect">
            <a:avLst>
              <a:gd name="adj" fmla="val 4569"/>
            </a:avLst>
          </a:prstGeom>
          <a:solidFill>
            <a:srgbClr val="FFFFFF"/>
          </a:solidFill>
          <a:ln w="15875">
            <a:solidFill>
              <a:srgbClr val="DCDDDD"/>
            </a:solidFill>
            <a:prstDash val="solid"/>
          </a:ln>
          <a:effectLst>
            <a:outerShdw sx="100000" sy="100000" kx="0" ky="0" algn="bl" rotWithShape="0" blurRad="76200" dist="38100" dir="5400000">
              <a:srgbClr val="1C1C1E">
                <a:alpha val="12000"/>
              </a:srgbClr>
            </a:outerShdw>
          </a:effectLst>
        </p:spPr>
      </p:sp>
      <p:pic>
        <p:nvPicPr>
          <p:cNvPr id="21" name="Image 5" descr="/home/claude/sena_mockup/icons/qr_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337560"/>
            <a:ext cx="1691640" cy="16916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77824" y="5175504"/>
            <a:ext cx="26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Escanéalo para verificar tu identidad</a:t>
            </a:r>
            <a:endParaRPr lang="en-US" sz="800" dirty="0"/>
          </a:p>
        </p:txBody>
      </p:sp>
      <p:sp>
        <p:nvSpPr>
          <p:cNvPr id="23" name="Shape 15"/>
          <p:cNvSpPr/>
          <p:nvPr/>
        </p:nvSpPr>
        <p:spPr>
          <a:xfrm>
            <a:off x="1024128" y="5477256"/>
            <a:ext cx="2386584" cy="658368"/>
          </a:xfrm>
          <a:prstGeom prst="roundRect">
            <a:avLst>
              <a:gd name="adj" fmla="val 11111"/>
            </a:avLst>
          </a:prstGeom>
          <a:solidFill>
            <a:srgbClr val="F2F3F3"/>
          </a:solidFill>
          <a:ln/>
        </p:spPr>
      </p:sp>
      <p:sp>
        <p:nvSpPr>
          <p:cNvPr id="24" name="Shape 16"/>
          <p:cNvSpPr/>
          <p:nvPr/>
        </p:nvSpPr>
        <p:spPr>
          <a:xfrm>
            <a:off x="1152144" y="5614416"/>
            <a:ext cx="384048" cy="384048"/>
          </a:xfrm>
          <a:prstGeom prst="ellipse">
            <a:avLst/>
          </a:prstGeom>
          <a:solidFill>
            <a:srgbClr val="E8F5DE"/>
          </a:solidFill>
          <a:ln/>
        </p:spPr>
      </p:sp>
      <p:pic>
        <p:nvPicPr>
          <p:cNvPr id="25" name="Image 6" descr="/home/claude/sena_mockup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5296" y="5687568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645920" y="5568696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registro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645920" y="5806440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08:00 AM · Presente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1024128" y="6391656"/>
            <a:ext cx="2386584" cy="658368"/>
          </a:xfrm>
          <a:prstGeom prst="roundRect">
            <a:avLst>
              <a:gd name="adj" fmla="val 13889"/>
            </a:avLst>
          </a:prstGeom>
          <a:solidFill>
            <a:srgbClr val="39A900"/>
          </a:solidFill>
          <a:ln/>
          <a:effectLst>
            <a:outerShdw sx="100000" sy="100000" kx="0" ky="0" algn="bl" rotWithShape="0" blurRad="127000" dist="50800" dir="5400000">
              <a:srgbClr val="39A900">
                <a:alpha val="35000"/>
              </a:srgbClr>
            </a:outerShdw>
          </a:effectLst>
        </p:spPr>
      </p:sp>
      <p:pic>
        <p:nvPicPr>
          <p:cNvPr id="29" name="Image 7" descr="/home/claude/sena_mockup/icons/camer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6601968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527048" y="6391656"/>
            <a:ext cx="1746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Cámara para Escanear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del Salón</a:t>
            </a:r>
            <a:endParaRPr lang="en-US" sz="950" dirty="0"/>
          </a:p>
        </p:txBody>
      </p:sp>
      <p:sp>
        <p:nvSpPr>
          <p:cNvPr id="31" name="Shape 21"/>
          <p:cNvSpPr/>
          <p:nvPr/>
        </p:nvSpPr>
        <p:spPr>
          <a:xfrm>
            <a:off x="1897380" y="7187184"/>
            <a:ext cx="640080" cy="41148"/>
          </a:xfrm>
          <a:prstGeom prst="roundRect">
            <a:avLst>
              <a:gd name="adj" fmla="val 44444"/>
            </a:avLst>
          </a:prstGeom>
          <a:solidFill>
            <a:srgbClr val="1C1C1E"/>
          </a:solidFill>
          <a:ln/>
        </p:spPr>
      </p:sp>
      <p:sp>
        <p:nvSpPr>
          <p:cNvPr id="32" name="Shape 22"/>
          <p:cNvSpPr/>
          <p:nvPr/>
        </p:nvSpPr>
        <p:spPr>
          <a:xfrm>
            <a:off x="4160520" y="1600200"/>
            <a:ext cx="7452360" cy="5806440"/>
          </a:xfrm>
          <a:prstGeom prst="roundRect">
            <a:avLst>
              <a:gd name="adj" fmla="val 945"/>
            </a:avLst>
          </a:prstGeom>
          <a:solidFill>
            <a:srgbClr val="FFFFFF"/>
          </a:solidFill>
          <a:ln w="12700">
            <a:solidFill>
              <a:srgbClr val="DCDDDD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4480560" y="1810512"/>
            <a:ext cx="681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 componentes</a:t>
            </a:r>
            <a:endParaRPr lang="en-US" sz="1400" dirty="0"/>
          </a:p>
        </p:txBody>
      </p:sp>
      <p:sp>
        <p:nvSpPr>
          <p:cNvPr id="34" name="Shape 24"/>
          <p:cNvSpPr/>
          <p:nvPr/>
        </p:nvSpPr>
        <p:spPr>
          <a:xfrm>
            <a:off x="4480560" y="2304288"/>
            <a:ext cx="146304" cy="146304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35" name="Text 25"/>
          <p:cNvSpPr/>
          <p:nvPr/>
        </p:nvSpPr>
        <p:spPr>
          <a:xfrm>
            <a:off x="4782312" y="223113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4782312" y="248716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Logo/avatar del aprendiz, saludo personalizado "Hola, [Nombre]" y número de ficha. Fondo verde SENA (#39A900) con esquinas suavemente redondeadas.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4480560" y="3200400"/>
            <a:ext cx="146304" cy="146304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38" name="Text 28"/>
          <p:cNvSpPr/>
          <p:nvPr/>
        </p:nvSpPr>
        <p:spPr>
          <a:xfrm>
            <a:off x="4782312" y="312724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QR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4782312" y="33832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grande (mínimo 60% del ancho de pantalla) con alto contraste para lectura instantánea desde cualquier ángulo. Tarjeta blanca con sombra suave.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4480560" y="4096512"/>
            <a:ext cx="146304" cy="146304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41" name="Text 31"/>
          <p:cNvSpPr/>
          <p:nvPr/>
        </p:nvSpPr>
        <p:spPr>
          <a:xfrm>
            <a:off x="4782312" y="402336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estado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4782312" y="42793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último registro de asistencia con ícono de confirmación en verde, reforzando retroalimentación inmediata al usuario.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4480560" y="4992624"/>
            <a:ext cx="146304" cy="146304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44" name="Text 34"/>
          <p:cNvSpPr/>
          <p:nvPr/>
        </p:nvSpPr>
        <p:spPr>
          <a:xfrm>
            <a:off x="4782312" y="49194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principal (CTA)</a:t>
            </a:r>
            <a:endParaRPr lang="en-US" sz="1300" dirty="0"/>
          </a:p>
        </p:txBody>
      </p:sp>
      <p:sp>
        <p:nvSpPr>
          <p:cNvPr id="45" name="Text 35"/>
          <p:cNvSpPr/>
          <p:nvPr/>
        </p:nvSpPr>
        <p:spPr>
          <a:xfrm>
            <a:off x="4782312" y="517550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primaria de la pantalla: abrir cámara y escanear el QR del salón. Full-width, alto contraste, esquinas redondeadas de 0.1"; una sola acción posible por pantalla para minimizar el tiempo de registro.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4480560" y="5888736"/>
            <a:ext cx="146304" cy="146304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47" name="Text 37"/>
          <p:cNvSpPr/>
          <p:nvPr/>
        </p:nvSpPr>
        <p:spPr>
          <a:xfrm>
            <a:off x="4782312" y="581558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Micro-interacción objetivo</a:t>
            </a:r>
            <a:endParaRPr lang="en-US" sz="1300" dirty="0"/>
          </a:p>
        </p:txBody>
      </p:sp>
      <p:sp>
        <p:nvSpPr>
          <p:cNvPr id="48" name="Text 38"/>
          <p:cNvSpPr/>
          <p:nvPr/>
        </p:nvSpPr>
        <p:spPr>
          <a:xfrm>
            <a:off x="4782312" y="607161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2 toques: abrir app → escanear QR del salón. Sin formularios, sin navegación adicional — cumple el objetivo de registro en ≤ 3 segundos.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del Docente (Instructor)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control con el estado de asistencia de la ficha en tiempo real y exportación de reportes.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29000" cy="58064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05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 componentes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41448"/>
            <a:ext cx="128016" cy="128016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3682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58775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"Panel de Control – Ficha 283940". Fondo verde institucional, tipografía en blanco de alto contraste.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822960" y="3493008"/>
            <a:ext cx="128016" cy="128016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41985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6393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control: "Asistencia de Hoy" (activa) y "Generar Reportes". Estado activo con fondo blanco y texto verde.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822960" y="4544568"/>
            <a:ext cx="128016" cy="128016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47141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estudiantes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46908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circular con iniciales, nombre completo y estado de asistencia. Check verde = Asistió; equis roja = Ausente.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822960" y="5596128"/>
            <a:ext cx="128016" cy="128016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5229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exportar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57424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destacada flotante "Exportar Asistencia (PDF)", siempre visible en la parte inferior de la pantalla.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8275320" y="1600200"/>
            <a:ext cx="2880360" cy="5806440"/>
          </a:xfrm>
          <a:prstGeom prst="roundRect">
            <a:avLst>
              <a:gd name="adj" fmla="val 10794"/>
            </a:avLst>
          </a:prstGeom>
          <a:solidFill>
            <a:srgbClr val="1C1C1E"/>
          </a:solidFill>
          <a:ln/>
          <a:effectLst>
            <a:outerShdw sx="100000" sy="100000" kx="0" ky="0" algn="bl" rotWithShape="0" blurRad="228600" dist="101600" dir="5400000">
              <a:srgbClr val="1C1C1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75904" y="1700784"/>
            <a:ext cx="2679192" cy="5605272"/>
          </a:xfrm>
          <a:prstGeom prst="roundRect">
            <a:avLst>
              <a:gd name="adj" fmla="val 8874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257032" y="2560320"/>
            <a:ext cx="27432" cy="457200"/>
          </a:xfrm>
          <a:prstGeom prst="roundRect">
            <a:avLst>
              <a:gd name="adj" fmla="val 33333"/>
            </a:avLst>
          </a:prstGeom>
          <a:solidFill>
            <a:srgbClr val="1C1C1E"/>
          </a:solidFill>
          <a:ln/>
        </p:spPr>
      </p:sp>
      <p:sp>
        <p:nvSpPr>
          <p:cNvPr id="22" name="Shape 20"/>
          <p:cNvSpPr/>
          <p:nvPr/>
        </p:nvSpPr>
        <p:spPr>
          <a:xfrm>
            <a:off x="8257032" y="3154680"/>
            <a:ext cx="27432" cy="457200"/>
          </a:xfrm>
          <a:prstGeom prst="roundRect">
            <a:avLst>
              <a:gd name="adj" fmla="val 33333"/>
            </a:avLst>
          </a:prstGeom>
          <a:solidFill>
            <a:srgbClr val="1C1C1E"/>
          </a:solidFill>
          <a:ln/>
        </p:spPr>
      </p:sp>
      <p:sp>
        <p:nvSpPr>
          <p:cNvPr id="23" name="Text 21"/>
          <p:cNvSpPr/>
          <p:nvPr/>
        </p:nvSpPr>
        <p:spPr>
          <a:xfrm>
            <a:off x="8513064" y="1737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pic>
        <p:nvPicPr>
          <p:cNvPr id="24" name="Image 0" descr="/home/claude/sena_mockup/icons/sig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68" y="1760220"/>
            <a:ext cx="128016" cy="128016"/>
          </a:xfrm>
          <a:prstGeom prst="rect">
            <a:avLst/>
          </a:prstGeom>
        </p:spPr>
      </p:pic>
      <p:pic>
        <p:nvPicPr>
          <p:cNvPr id="25" name="Image 1" descr="/home/claude/sena_mockup/icons/wif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1760220"/>
            <a:ext cx="128016" cy="128016"/>
          </a:xfrm>
          <a:prstGeom prst="rect">
            <a:avLst/>
          </a:prstGeom>
        </p:spPr>
      </p:pic>
      <p:pic>
        <p:nvPicPr>
          <p:cNvPr id="26" name="Image 2" descr="/home/claude/sena_mockup/icons/batte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1755648"/>
            <a:ext cx="182880" cy="1371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8375904" y="1993392"/>
            <a:ext cx="2679192" cy="777240"/>
          </a:xfrm>
          <a:prstGeom prst="roundRect">
            <a:avLst>
              <a:gd name="adj" fmla="val 7059"/>
            </a:avLst>
          </a:prstGeom>
          <a:solidFill>
            <a:srgbClr val="39A900"/>
          </a:solidFill>
          <a:ln/>
        </p:spPr>
      </p:sp>
      <p:sp>
        <p:nvSpPr>
          <p:cNvPr id="28" name="Text 23"/>
          <p:cNvSpPr/>
          <p:nvPr/>
        </p:nvSpPr>
        <p:spPr>
          <a:xfrm>
            <a:off x="8540496" y="2112264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Control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540496" y="2359152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283940</a:t>
            </a:r>
            <a:endParaRPr lang="en-US" sz="900" dirty="0"/>
          </a:p>
        </p:txBody>
      </p:sp>
      <p:pic>
        <p:nvPicPr>
          <p:cNvPr id="30" name="Image 3" descr="/home/claude/sena_mockup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4" y="2139696"/>
            <a:ext cx="173736" cy="173736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503920" y="2898648"/>
            <a:ext cx="2423160" cy="310896"/>
          </a:xfrm>
          <a:prstGeom prst="roundRect">
            <a:avLst>
              <a:gd name="adj" fmla="val 20588"/>
            </a:avLst>
          </a:prstGeom>
          <a:solidFill>
            <a:srgbClr val="F2F3F3"/>
          </a:solidFill>
          <a:ln/>
        </p:spPr>
      </p:sp>
      <p:sp>
        <p:nvSpPr>
          <p:cNvPr id="32" name="Shape 26"/>
          <p:cNvSpPr/>
          <p:nvPr/>
        </p:nvSpPr>
        <p:spPr>
          <a:xfrm>
            <a:off x="8522208" y="2926080"/>
            <a:ext cx="1175004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C1C1E">
                <a:alpha val="15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522208" y="2898648"/>
            <a:ext cx="11750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de Hoy</a:t>
            </a:r>
            <a:endParaRPr lang="en-US" sz="760" dirty="0"/>
          </a:p>
        </p:txBody>
      </p:sp>
      <p:sp>
        <p:nvSpPr>
          <p:cNvPr id="34" name="Text 28"/>
          <p:cNvSpPr/>
          <p:nvPr/>
        </p:nvSpPr>
        <p:spPr>
          <a:xfrm>
            <a:off x="9715500" y="2898648"/>
            <a:ext cx="11750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Reportes</a:t>
            </a:r>
            <a:endParaRPr lang="en-US" sz="760" dirty="0"/>
          </a:p>
        </p:txBody>
      </p:sp>
      <p:sp>
        <p:nvSpPr>
          <p:cNvPr id="35" name="Shape 29"/>
          <p:cNvSpPr/>
          <p:nvPr/>
        </p:nvSpPr>
        <p:spPr>
          <a:xfrm>
            <a:off x="8513064" y="3429000"/>
            <a:ext cx="384048" cy="384048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36" name="Text 30"/>
          <p:cNvSpPr/>
          <p:nvPr/>
        </p:nvSpPr>
        <p:spPr>
          <a:xfrm>
            <a:off x="8513064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8979408" y="345643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 Estiben Garrido</a:t>
            </a:r>
            <a:endParaRPr lang="en-US" sz="840" dirty="0"/>
          </a:p>
        </p:txBody>
      </p:sp>
      <p:pic>
        <p:nvPicPr>
          <p:cNvPr id="38" name="Image 4" descr="/home/claude/sena_mockup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1048" y="3493008"/>
            <a:ext cx="246888" cy="246888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8375904" y="3867912"/>
            <a:ext cx="2679192" cy="530352"/>
          </a:xfrm>
          <a:prstGeom prst="rect">
            <a:avLst/>
          </a:prstGeom>
          <a:solidFill>
            <a:srgbClr val="F8F9F7"/>
          </a:solidFill>
          <a:ln/>
        </p:spPr>
      </p:sp>
      <p:sp>
        <p:nvSpPr>
          <p:cNvPr id="40" name="Shape 33"/>
          <p:cNvSpPr/>
          <p:nvPr/>
        </p:nvSpPr>
        <p:spPr>
          <a:xfrm>
            <a:off x="8513064" y="3959352"/>
            <a:ext cx="384048" cy="384048"/>
          </a:xfrm>
          <a:prstGeom prst="ellipse">
            <a:avLst/>
          </a:prstGeom>
          <a:solidFill>
            <a:srgbClr val="2D7A00"/>
          </a:solidFill>
          <a:ln/>
        </p:spPr>
      </p:sp>
      <p:sp>
        <p:nvSpPr>
          <p:cNvPr id="41" name="Text 34"/>
          <p:cNvSpPr/>
          <p:nvPr/>
        </p:nvSpPr>
        <p:spPr>
          <a:xfrm>
            <a:off x="8513064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8979408" y="398678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José Cabrera</a:t>
            </a:r>
            <a:endParaRPr lang="en-US" sz="840" dirty="0"/>
          </a:p>
        </p:txBody>
      </p:sp>
      <p:pic>
        <p:nvPicPr>
          <p:cNvPr id="43" name="Image 5" descr="/home/claude/sena_mockup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048" y="4023360"/>
            <a:ext cx="246888" cy="246888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8513064" y="4489704"/>
            <a:ext cx="384048" cy="384048"/>
          </a:xfrm>
          <a:prstGeom prst="ellipse">
            <a:avLst/>
          </a:prstGeom>
          <a:solidFill>
            <a:srgbClr val="58595B"/>
          </a:solidFill>
          <a:ln/>
        </p:spPr>
      </p:sp>
      <p:sp>
        <p:nvSpPr>
          <p:cNvPr id="45" name="Text 37"/>
          <p:cNvSpPr/>
          <p:nvPr/>
        </p:nvSpPr>
        <p:spPr>
          <a:xfrm>
            <a:off x="8513064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850" dirty="0"/>
          </a:p>
        </p:txBody>
      </p:sp>
      <p:sp>
        <p:nvSpPr>
          <p:cNvPr id="46" name="Text 38"/>
          <p:cNvSpPr/>
          <p:nvPr/>
        </p:nvSpPr>
        <p:spPr>
          <a:xfrm>
            <a:off x="8979408" y="451713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Andrés Rojas</a:t>
            </a:r>
            <a:endParaRPr lang="en-US" sz="840" dirty="0"/>
          </a:p>
        </p:txBody>
      </p:sp>
      <p:pic>
        <p:nvPicPr>
          <p:cNvPr id="47" name="Image 6" descr="/home/claude/sena_mockup/icons/tim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1048" y="4553712"/>
            <a:ext cx="246888" cy="246888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8375904" y="4928616"/>
            <a:ext cx="2679192" cy="530352"/>
          </a:xfrm>
          <a:prstGeom prst="rect">
            <a:avLst/>
          </a:prstGeom>
          <a:solidFill>
            <a:srgbClr val="F8F9F7"/>
          </a:solidFill>
          <a:ln/>
        </p:spPr>
      </p:sp>
      <p:sp>
        <p:nvSpPr>
          <p:cNvPr id="49" name="Shape 40"/>
          <p:cNvSpPr/>
          <p:nvPr/>
        </p:nvSpPr>
        <p:spPr>
          <a:xfrm>
            <a:off x="8513064" y="5020056"/>
            <a:ext cx="384048" cy="384048"/>
          </a:xfrm>
          <a:prstGeom prst="ellipse">
            <a:avLst/>
          </a:prstGeom>
          <a:solidFill>
            <a:srgbClr val="1C1C1E"/>
          </a:solidFill>
          <a:ln/>
        </p:spPr>
      </p:sp>
      <p:sp>
        <p:nvSpPr>
          <p:cNvPr id="50" name="Text 41"/>
          <p:cNvSpPr/>
          <p:nvPr/>
        </p:nvSpPr>
        <p:spPr>
          <a:xfrm>
            <a:off x="8513064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>
            <a:off x="8979408" y="504748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Valentina Puentes</a:t>
            </a:r>
            <a:endParaRPr lang="en-US" sz="840" dirty="0"/>
          </a:p>
        </p:txBody>
      </p:sp>
      <p:pic>
        <p:nvPicPr>
          <p:cNvPr id="52" name="Image 7" descr="/home/claude/sena_mockup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1048" y="5084064"/>
            <a:ext cx="246888" cy="246888"/>
          </a:xfrm>
          <a:prstGeom prst="rect">
            <a:avLst/>
          </a:prstGeom>
        </p:spPr>
      </p:pic>
      <p:sp>
        <p:nvSpPr>
          <p:cNvPr id="53" name="Shape 43"/>
          <p:cNvSpPr/>
          <p:nvPr/>
        </p:nvSpPr>
        <p:spPr>
          <a:xfrm>
            <a:off x="8513064" y="5550408"/>
            <a:ext cx="384048" cy="384048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54" name="Text 44"/>
          <p:cNvSpPr/>
          <p:nvPr/>
        </p:nvSpPr>
        <p:spPr>
          <a:xfrm>
            <a:off x="8513064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en-US" sz="850" dirty="0"/>
          </a:p>
        </p:txBody>
      </p:sp>
      <p:sp>
        <p:nvSpPr>
          <p:cNvPr id="55" name="Text 45"/>
          <p:cNvSpPr/>
          <p:nvPr/>
        </p:nvSpPr>
        <p:spPr>
          <a:xfrm>
            <a:off x="8979408" y="55778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Pablo Losada</a:t>
            </a:r>
            <a:endParaRPr lang="en-US" sz="840" dirty="0"/>
          </a:p>
        </p:txBody>
      </p:sp>
      <p:pic>
        <p:nvPicPr>
          <p:cNvPr id="56" name="Image 8" descr="/home/claude/sena_mockup/icons/time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71048" y="5614416"/>
            <a:ext cx="246888" cy="246888"/>
          </a:xfrm>
          <a:prstGeom prst="rect">
            <a:avLst/>
          </a:prstGeom>
        </p:spPr>
      </p:pic>
      <p:sp>
        <p:nvSpPr>
          <p:cNvPr id="57" name="Shape 46"/>
          <p:cNvSpPr/>
          <p:nvPr/>
        </p:nvSpPr>
        <p:spPr>
          <a:xfrm>
            <a:off x="8604504" y="6739128"/>
            <a:ext cx="2221992" cy="45720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/>
          <a:effectLst>
            <a:outerShdw sx="100000" sy="100000" kx="0" ky="0" algn="bl" rotWithShape="0" blurRad="127000" dist="50800" dir="5400000">
              <a:srgbClr val="1C1C1E">
                <a:alpha val="40000"/>
              </a:srgbClr>
            </a:outerShdw>
          </a:effectLst>
        </p:spPr>
      </p:sp>
      <p:pic>
        <p:nvPicPr>
          <p:cNvPr id="58" name="Image 9" descr="/home/claude/sena_mockup/icons/pd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24544" y="6867144"/>
            <a:ext cx="201168" cy="201168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9198864" y="6739128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Asistencia (PDF)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Diseño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Lineamientos visuales aplicados en ambas pantallas de la aplicación.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COLOR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39A900"/>
          </a:solidFill>
          <a:ln w="12700">
            <a:solidFill>
              <a:srgbClr val="DC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260604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SENA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21208" y="2916936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#39A900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463040" y="17830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2D7A00"/>
          </a:solidFill>
          <a:ln w="12700">
            <a:solidFill>
              <a:srgbClr val="DC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5608" y="260604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Oscuro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35608" y="2916936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#2D7A00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377440" y="17830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0008" y="260604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50008" y="2916936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91840" y="17830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2F3F3"/>
          </a:solidFill>
          <a:ln w="12700">
            <a:solidFill>
              <a:srgbClr val="DC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260604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Claro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64408" y="2916936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#F2F3F3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206240" y="17830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1C1C1E"/>
          </a:solidFill>
          <a:ln w="12700">
            <a:solidFill>
              <a:srgbClr val="DC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78808" y="260604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Oscuro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78808" y="2916936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#1C1C1E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7830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D64550"/>
          </a:solidFill>
          <a:ln w="12700">
            <a:solidFill>
              <a:srgbClr val="DC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2606040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Alerta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93208" y="2916936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#D64550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2F3F3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de pantalla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2960" y="431596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Sans-serif, 20–24pt, bold  ·  tipo Inter / Roboto / Calibri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46177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cuerpo e instrucciones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9103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Regular, 10–13pt  ·  alto contraste, óptima legibilidad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519379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Y METADATOS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2960" y="54132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Uppercase, 8–9pt  ·  uso en etiquetas y estados secundarios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1417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CLAVE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17830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8F5DE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1755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Esquinas redondeadas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720840" y="202082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consistente de 0.06"–0.34" en tarjetas, botones y el marco del dispositivo, para una sensación moderna y amigable.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26974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8F5DE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26700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Sombras suaves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720840" y="293522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Elevación sutil (blur 6–18, opacidad 12–40%) para diferenciar tarjetas, botones flotantes y el marco del teléfono sin saturar la interfaz.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36118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8F5DE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35844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con color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720840" y="384962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éxito / presente / activo. Rojo = ausente / alerta. Gris = neutro / inactivo. Codificación consistente en toda la app.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45262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8F5DE"/>
          </a:solidFill>
          <a:ln/>
        </p:spPr>
      </p:sp>
      <p:sp>
        <p:nvSpPr>
          <p:cNvPr id="42" name="Text 40"/>
          <p:cNvSpPr/>
          <p:nvPr/>
        </p:nvSpPr>
        <p:spPr>
          <a:xfrm>
            <a:off x="6720840" y="44988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 una sola acción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720840" y="476402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pantalla prioriza un botón principal de alto contraste, reduciendo la carga cognitiva y el tiempo de registro.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55321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C1C1E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563270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usabilidad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37960" y="5852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 de registro de entrada — abrir app y escanear el QR del salón — debe completarse en 3 segundos o menos.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2026-07-11T10:40:46Z</dcterms:created>
  <dcterms:modified xsi:type="dcterms:W3CDTF">2026-07-11T10:40:46Z</dcterms:modified>
</cp:coreProperties>
</file>